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7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2B1E"/>
    <a:srgbClr val="E8E2D6"/>
    <a:srgbClr val="1A1A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59"/>
        <p:guide pos="38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2D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" name="平行四边形 37"/>
          <p:cNvSpPr/>
          <p:nvPr/>
        </p:nvSpPr>
        <p:spPr>
          <a:xfrm>
            <a:off x="9230995" y="-45720"/>
            <a:ext cx="2304415" cy="6903720"/>
          </a:xfrm>
          <a:prstGeom prst="parallelogram">
            <a:avLst>
              <a:gd name="adj" fmla="val 77112"/>
            </a:avLst>
          </a:prstGeom>
          <a:solidFill>
            <a:srgbClr val="1A1A1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30" name="组合 29"/>
          <p:cNvGrpSpPr/>
          <p:nvPr/>
        </p:nvGrpSpPr>
        <p:grpSpPr>
          <a:xfrm>
            <a:off x="2524760" y="3746500"/>
            <a:ext cx="4112260" cy="853440"/>
            <a:chOff x="3975" y="5858"/>
            <a:chExt cx="6476" cy="1344"/>
          </a:xfrm>
        </p:grpSpPr>
        <p:sp>
          <p:nvSpPr>
            <p:cNvPr id="28" name="矩形 27"/>
            <p:cNvSpPr/>
            <p:nvPr/>
          </p:nvSpPr>
          <p:spPr>
            <a:xfrm>
              <a:off x="4128" y="5858"/>
              <a:ext cx="6112" cy="1344"/>
            </a:xfrm>
            <a:prstGeom prst="rect">
              <a:avLst/>
            </a:prstGeom>
            <a:solidFill>
              <a:srgbClr val="D52B1E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3975" y="5925"/>
              <a:ext cx="6477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4400">
                  <a:latin typeface="方正姚体" panose="02010601030101010101" charset="-122"/>
                  <a:ea typeface="方正姚体" panose="02010601030101010101" charset="-122"/>
                </a:rPr>
                <a:t>游戏理解与分析</a:t>
              </a:r>
              <a:endParaRPr lang="zh-CN" altLang="en-US" sz="4400">
                <a:latin typeface="方正姚体" panose="02010601030101010101" charset="-122"/>
                <a:ea typeface="方正姚体" panose="02010601030101010101" charset="-122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2907030" y="2469515"/>
            <a:ext cx="2727960" cy="816610"/>
            <a:chOff x="4766" y="4894"/>
            <a:chExt cx="4296" cy="1286"/>
          </a:xfrm>
        </p:grpSpPr>
        <p:sp>
          <p:nvSpPr>
            <p:cNvPr id="3" name="矩形 2"/>
            <p:cNvSpPr/>
            <p:nvPr/>
          </p:nvSpPr>
          <p:spPr>
            <a:xfrm>
              <a:off x="4766" y="4894"/>
              <a:ext cx="3815" cy="1287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4400">
                <a:solidFill>
                  <a:srgbClr val="E8E2D6"/>
                </a:solidFill>
                <a:latin typeface="方正姚体" panose="02010601030101010101" charset="-122"/>
                <a:ea typeface="方正姚体" panose="02010601030101010101" charset="-122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5154" y="4971"/>
              <a:ext cx="3909" cy="1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4000">
                  <a:solidFill>
                    <a:srgbClr val="E8E2D6"/>
                  </a:solidFill>
                  <a:latin typeface="方正姚体" panose="02010601030101010101" charset="-122"/>
                  <a:ea typeface="方正姚体" panose="02010601030101010101" charset="-122"/>
                </a:rPr>
                <a:t>参赛经验</a:t>
              </a:r>
              <a:endParaRPr lang="zh-CN" altLang="en-US" sz="4000">
                <a:solidFill>
                  <a:srgbClr val="E8E2D6"/>
                </a:solidFill>
                <a:latin typeface="方正姚体" panose="02010601030101010101" charset="-122"/>
                <a:ea typeface="方正姚体" panose="02010601030101010101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5320030" y="3145155"/>
            <a:ext cx="4667250" cy="864870"/>
            <a:chOff x="8506" y="4894"/>
            <a:chExt cx="7350" cy="1362"/>
          </a:xfrm>
        </p:grpSpPr>
        <p:sp>
          <p:nvSpPr>
            <p:cNvPr id="7" name="矩形 6"/>
            <p:cNvSpPr/>
            <p:nvPr/>
          </p:nvSpPr>
          <p:spPr>
            <a:xfrm>
              <a:off x="8605" y="4912"/>
              <a:ext cx="7107" cy="1344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8506" y="4894"/>
              <a:ext cx="7350" cy="12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p>
              <a:r>
                <a:rPr lang="zh-CN" altLang="en-US" sz="4400">
                  <a:solidFill>
                    <a:srgbClr val="E8E2D6"/>
                  </a:solidFill>
                  <a:latin typeface="方正姚体" panose="02010601030101010101" charset="-122"/>
                  <a:ea typeface="方正姚体" panose="02010601030101010101" charset="-122"/>
                </a:rPr>
                <a:t>组织、协调、沟通</a:t>
              </a:r>
              <a:endParaRPr lang="zh-CN" altLang="en-US" sz="4400">
                <a:solidFill>
                  <a:srgbClr val="E8E2D6"/>
                </a:solidFill>
                <a:latin typeface="方正姚体" panose="02010601030101010101" charset="-122"/>
                <a:ea typeface="方正姚体" panose="02010601030101010101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2131060" y="739140"/>
            <a:ext cx="9644380" cy="2616835"/>
            <a:chOff x="3309" y="1280"/>
            <a:chExt cx="15188" cy="4121"/>
          </a:xfrm>
        </p:grpSpPr>
        <p:sp>
          <p:nvSpPr>
            <p:cNvPr id="9" name="右箭头 8"/>
            <p:cNvSpPr/>
            <p:nvPr/>
          </p:nvSpPr>
          <p:spPr>
            <a:xfrm>
              <a:off x="3309" y="1280"/>
              <a:ext cx="15188" cy="4121"/>
            </a:xfrm>
            <a:prstGeom prst="rightArrow">
              <a:avLst>
                <a:gd name="adj1" fmla="val 50000"/>
                <a:gd name="adj2" fmla="val 131448"/>
              </a:avLst>
            </a:prstGeom>
            <a:solidFill>
              <a:srgbClr val="D52B1E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方正姚体" panose="02010601030101010101" charset="-122"/>
                <a:ea typeface="方正姚体" panose="02010601030101010101" charset="-122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7630" y="2469"/>
              <a:ext cx="7599" cy="17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6600">
                  <a:solidFill>
                    <a:srgbClr val="1A1A1A"/>
                  </a:solidFill>
                  <a:latin typeface="方正姚体" panose="02010601030101010101" charset="-122"/>
                  <a:ea typeface="方正姚体" panose="02010601030101010101" charset="-122"/>
                </a:rPr>
                <a:t>游戏策划</a:t>
              </a:r>
              <a:endParaRPr lang="zh-CN" altLang="en-US" sz="6600">
                <a:solidFill>
                  <a:srgbClr val="1A1A1A"/>
                </a:solidFill>
                <a:latin typeface="方正姚体" panose="02010601030101010101" charset="-122"/>
                <a:ea typeface="方正姚体" panose="02010601030101010101" charset="-122"/>
              </a:endParaRPr>
            </a:p>
          </p:txBody>
        </p:sp>
      </p:grpSp>
      <p:sp>
        <p:nvSpPr>
          <p:cNvPr id="13" name="矩形 12"/>
          <p:cNvSpPr/>
          <p:nvPr/>
        </p:nvSpPr>
        <p:spPr>
          <a:xfrm>
            <a:off x="2621280" y="492760"/>
            <a:ext cx="4015740" cy="112585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4" name="组合 23"/>
          <p:cNvGrpSpPr/>
          <p:nvPr/>
        </p:nvGrpSpPr>
        <p:grpSpPr>
          <a:xfrm>
            <a:off x="2621280" y="4920615"/>
            <a:ext cx="2844165" cy="829945"/>
            <a:chOff x="4902" y="8084"/>
            <a:chExt cx="4479" cy="1307"/>
          </a:xfrm>
        </p:grpSpPr>
        <p:sp>
          <p:nvSpPr>
            <p:cNvPr id="19" name="矩形 18"/>
            <p:cNvSpPr/>
            <p:nvPr/>
          </p:nvSpPr>
          <p:spPr>
            <a:xfrm>
              <a:off x="4902" y="8095"/>
              <a:ext cx="4192" cy="1296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5107" y="8084"/>
              <a:ext cx="4275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4800">
                  <a:solidFill>
                    <a:srgbClr val="E8E2D6"/>
                  </a:solidFill>
                  <a:latin typeface="方正姚体" panose="02010601030101010101" charset="-122"/>
                  <a:ea typeface="方正姚体" panose="02010601030101010101" charset="-122"/>
                </a:rPr>
                <a:t>代码能力</a:t>
              </a:r>
              <a:endParaRPr lang="zh-CN" altLang="en-US" sz="4800">
                <a:solidFill>
                  <a:srgbClr val="E8E2D6"/>
                </a:solidFill>
                <a:latin typeface="方正姚体" panose="02010601030101010101" charset="-122"/>
                <a:ea typeface="方正姚体" panose="02010601030101010101" charset="-122"/>
              </a:endParaRPr>
            </a:p>
          </p:txBody>
        </p:sp>
      </p:grpSp>
      <p:pic>
        <p:nvPicPr>
          <p:cNvPr id="5" name="图片 4" descr="me"/>
          <p:cNvPicPr>
            <a:picLocks noChangeAspect="1"/>
          </p:cNvPicPr>
          <p:nvPr/>
        </p:nvPicPr>
        <p:blipFill>
          <a:blip r:embed="rId1"/>
          <a:srcRect b="25208"/>
          <a:stretch>
            <a:fillRect/>
          </a:stretch>
        </p:blipFill>
        <p:spPr>
          <a:xfrm>
            <a:off x="-2012950" y="-635"/>
            <a:ext cx="7226935" cy="68586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602355" y="342265"/>
            <a:ext cx="351218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8000">
                <a:solidFill>
                  <a:srgbClr val="E8E2D6"/>
                </a:solidFill>
                <a:latin typeface="方正姚体" panose="02010601030101010101" charset="-122"/>
                <a:ea typeface="方正姚体" panose="02010601030101010101" charset="-122"/>
              </a:rPr>
              <a:t>赵汉卿</a:t>
            </a:r>
            <a:endParaRPr lang="zh-CN" altLang="en-US" sz="8000">
              <a:solidFill>
                <a:srgbClr val="E8E2D6"/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5871210" y="4318000"/>
            <a:ext cx="3241040" cy="924560"/>
            <a:chOff x="9246" y="6800"/>
            <a:chExt cx="5104" cy="1456"/>
          </a:xfrm>
        </p:grpSpPr>
        <p:sp>
          <p:nvSpPr>
            <p:cNvPr id="16" name="矩形 15"/>
            <p:cNvSpPr/>
            <p:nvPr/>
          </p:nvSpPr>
          <p:spPr>
            <a:xfrm>
              <a:off x="9382" y="6800"/>
              <a:ext cx="4832" cy="1456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9246" y="6800"/>
              <a:ext cx="5104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4800">
                  <a:solidFill>
                    <a:srgbClr val="E8E2D6"/>
                  </a:solidFill>
                  <a:latin typeface="方正姚体" panose="02010601030101010101" charset="-122"/>
                  <a:ea typeface="方正姚体" panose="02010601030101010101" charset="-122"/>
                </a:rPr>
                <a:t>绘画与审美</a:t>
              </a:r>
              <a:endParaRPr lang="zh-CN" altLang="en-US" sz="4800">
                <a:solidFill>
                  <a:srgbClr val="E8E2D6"/>
                </a:solidFill>
                <a:latin typeface="方正姚体" panose="02010601030101010101" charset="-122"/>
                <a:ea typeface="方正姚体" panose="02010601030101010101" charset="-122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3602355" y="6141085"/>
            <a:ext cx="5100320" cy="849630"/>
            <a:chOff x="5673" y="9671"/>
            <a:chExt cx="8032" cy="1338"/>
          </a:xfrm>
        </p:grpSpPr>
        <p:sp>
          <p:nvSpPr>
            <p:cNvPr id="22" name="矩形 21"/>
            <p:cNvSpPr/>
            <p:nvPr/>
          </p:nvSpPr>
          <p:spPr>
            <a:xfrm>
              <a:off x="5904" y="9671"/>
              <a:ext cx="7616" cy="1264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5673" y="9703"/>
              <a:ext cx="80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4800">
                  <a:solidFill>
                    <a:srgbClr val="E8E2D6"/>
                  </a:solidFill>
                  <a:latin typeface="方正姚体" panose="02010601030101010101" charset="-122"/>
                  <a:ea typeface="方正姚体" panose="02010601030101010101" charset="-122"/>
                </a:rPr>
                <a:t>历史、文学、哲学</a:t>
              </a:r>
              <a:endParaRPr lang="zh-CN" altLang="en-US" sz="4800">
                <a:solidFill>
                  <a:srgbClr val="E8E2D6"/>
                </a:solidFill>
                <a:latin typeface="方正姚体" panose="02010601030101010101" charset="-122"/>
                <a:ea typeface="方正姚体" panose="02010601030101010101" charset="-122"/>
              </a:endParaRPr>
            </a:p>
          </p:txBody>
        </p:sp>
      </p:grpSp>
      <p:sp>
        <p:nvSpPr>
          <p:cNvPr id="26" name="矩形 25"/>
          <p:cNvSpPr/>
          <p:nvPr/>
        </p:nvSpPr>
        <p:spPr>
          <a:xfrm>
            <a:off x="6492240" y="5018405"/>
            <a:ext cx="3871595" cy="975360"/>
          </a:xfrm>
          <a:prstGeom prst="rect">
            <a:avLst/>
          </a:prstGeom>
          <a:solidFill>
            <a:srgbClr val="D52B1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2800">
                <a:solidFill>
                  <a:srgbClr val="1A1A1A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熟练使用脑图、流程图</a:t>
            </a:r>
            <a:endParaRPr lang="zh-CN" altLang="en-US" sz="2800">
              <a:solidFill>
                <a:srgbClr val="1A1A1A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  <a:p>
            <a:pPr algn="l"/>
            <a:r>
              <a:rPr lang="zh-CN" altLang="en-US" sz="2800">
                <a:solidFill>
                  <a:srgbClr val="1A1A1A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、</a:t>
            </a:r>
            <a:r>
              <a:rPr lang="en-US" altLang="zh-CN" sz="2800">
                <a:solidFill>
                  <a:srgbClr val="1A1A1A"/>
                </a:solidFill>
                <a:latin typeface="Baskerville Old Face" panose="02020602080505020303" charset="0"/>
                <a:ea typeface="方正姚体" panose="02010601030101010101" charset="-122"/>
                <a:cs typeface="Baskerville Old Face" panose="02020602080505020303" charset="0"/>
              </a:rPr>
              <a:t>Office</a:t>
            </a:r>
            <a:r>
              <a:rPr lang="zh-CN" altLang="en-US" sz="2800">
                <a:solidFill>
                  <a:srgbClr val="1A1A1A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、</a:t>
            </a:r>
            <a:r>
              <a:rPr lang="en-US" altLang="zh-CN" sz="2800">
                <a:solidFill>
                  <a:srgbClr val="1A1A1A"/>
                </a:solidFill>
                <a:latin typeface="Baskerville Old Face" panose="02020602080505020303" charset="0"/>
                <a:ea typeface="方正姚体" panose="02010601030101010101" charset="-122"/>
                <a:cs typeface="Baskerville Old Face" panose="02020602080505020303" charset="0"/>
              </a:rPr>
              <a:t>Github</a:t>
            </a:r>
            <a:r>
              <a:rPr lang="zh-CN" altLang="en-US" sz="2800">
                <a:solidFill>
                  <a:srgbClr val="1A1A1A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等工具</a:t>
            </a:r>
            <a:endParaRPr lang="zh-CN" altLang="en-US" sz="2800">
              <a:solidFill>
                <a:srgbClr val="1A1A1A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572770" y="5550535"/>
            <a:ext cx="5450840" cy="975360"/>
          </a:xfrm>
          <a:prstGeom prst="rect">
            <a:avLst/>
          </a:prstGeom>
          <a:solidFill>
            <a:srgbClr val="D52B1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3200" b="1">
                <a:solidFill>
                  <a:srgbClr val="1A1A1A"/>
                </a:solidFill>
                <a:latin typeface="Baskerville Old Face" panose="02020602080505020303" charset="0"/>
                <a:ea typeface="方正姚体" panose="02010601030101010101" charset="-122"/>
                <a:cs typeface="Baskerville Old Face" panose="02020602080505020303" charset="0"/>
              </a:rPr>
              <a:t>Email: hankzhao1999@163.com</a:t>
            </a:r>
            <a:endParaRPr lang="en-US" altLang="zh-CN" sz="3200" b="1">
              <a:solidFill>
                <a:srgbClr val="1A1A1A"/>
              </a:solidFill>
              <a:latin typeface="Baskerville Old Face" panose="02020602080505020303" charset="0"/>
              <a:ea typeface="方正姚体" panose="02010601030101010101" charset="-122"/>
              <a:cs typeface="Baskerville Old Face" panose="02020602080505020303" charset="0"/>
            </a:endParaRPr>
          </a:p>
          <a:p>
            <a:pPr algn="l"/>
            <a:r>
              <a:rPr lang="en-US" altLang="zh-CN" sz="3200" b="1">
                <a:solidFill>
                  <a:srgbClr val="1A1A1A"/>
                </a:solidFill>
                <a:latin typeface="Baskerville Old Face" panose="02020602080505020303" charset="0"/>
                <a:ea typeface="方正姚体" panose="02010601030101010101" charset="-122"/>
                <a:cs typeface="Baskerville Old Face" panose="02020602080505020303" charset="0"/>
              </a:rPr>
              <a:t>    Tel: 15833356058</a:t>
            </a:r>
            <a:endParaRPr lang="en-US" altLang="zh-CN" sz="3200" b="1">
              <a:solidFill>
                <a:srgbClr val="1A1A1A"/>
              </a:solidFill>
              <a:latin typeface="Baskerville Old Face" panose="02020602080505020303" charset="0"/>
              <a:ea typeface="方正姚体" panose="02010601030101010101" charset="-122"/>
              <a:cs typeface="Baskerville Old Face" panose="02020602080505020303" charset="0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-71120" y="421640"/>
            <a:ext cx="1658620" cy="888365"/>
            <a:chOff x="-112" y="664"/>
            <a:chExt cx="2612" cy="1399"/>
          </a:xfrm>
        </p:grpSpPr>
        <p:sp>
          <p:nvSpPr>
            <p:cNvPr id="31" name="矩形 30"/>
            <p:cNvSpPr/>
            <p:nvPr/>
          </p:nvSpPr>
          <p:spPr>
            <a:xfrm>
              <a:off x="-112" y="847"/>
              <a:ext cx="2352" cy="1216"/>
            </a:xfrm>
            <a:prstGeom prst="rect">
              <a:avLst/>
            </a:prstGeom>
            <a:solidFill>
              <a:srgbClr val="D52B1E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0" y="664"/>
              <a:ext cx="2501" cy="139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 sz="5400">
                  <a:latin typeface="方正姚体" panose="02010601030101010101" charset="-122"/>
                  <a:ea typeface="方正姚体" panose="02010601030101010101" charset="-122"/>
                </a:rPr>
                <a:t>热爱</a:t>
              </a:r>
              <a:endParaRPr lang="zh-CN" altLang="en-US" sz="5400">
                <a:latin typeface="方正姚体" panose="02010601030101010101" charset="-122"/>
                <a:ea typeface="方正姚体" panose="02010601030101010101" charset="-122"/>
              </a:endParaRPr>
            </a:p>
          </p:txBody>
        </p:sp>
      </p:grpSp>
      <p:sp>
        <p:nvSpPr>
          <p:cNvPr id="34" name="文本框 33"/>
          <p:cNvSpPr txBox="1"/>
          <p:nvPr/>
        </p:nvSpPr>
        <p:spPr>
          <a:xfrm>
            <a:off x="9700260" y="2420620"/>
            <a:ext cx="2770505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800">
                <a:solidFill>
                  <a:srgbClr val="D52B1E"/>
                </a:solidFill>
                <a:latin typeface="方正姚体" panose="02010601030101010101" charset="-122"/>
                <a:ea typeface="方正姚体" panose="02010601030101010101" charset="-122"/>
              </a:rPr>
              <a:t>       </a:t>
            </a:r>
            <a:r>
              <a:rPr lang="zh-CN" altLang="en-US" sz="4800">
                <a:solidFill>
                  <a:srgbClr val="D52B1E"/>
                </a:solidFill>
                <a:latin typeface="方正姚体" panose="02010601030101010101" charset="-122"/>
                <a:ea typeface="方正姚体" panose="02010601030101010101" charset="-122"/>
              </a:rPr>
              <a:t>玩法</a:t>
            </a:r>
            <a:endParaRPr lang="zh-CN" altLang="en-US" sz="4800">
              <a:solidFill>
                <a:srgbClr val="D52B1E"/>
              </a:solidFill>
              <a:latin typeface="方正姚体" panose="02010601030101010101" charset="-122"/>
              <a:ea typeface="方正姚体" panose="02010601030101010101" charset="-122"/>
            </a:endParaRPr>
          </a:p>
          <a:p>
            <a:r>
              <a:rPr lang="en-US" altLang="zh-CN" sz="4800">
                <a:solidFill>
                  <a:srgbClr val="D52B1E"/>
                </a:solidFill>
                <a:latin typeface="方正姚体" panose="02010601030101010101" charset="-122"/>
                <a:ea typeface="方正姚体" panose="02010601030101010101" charset="-122"/>
              </a:rPr>
              <a:t>      </a:t>
            </a:r>
            <a:r>
              <a:rPr lang="zh-CN" altLang="en-US" sz="4800">
                <a:solidFill>
                  <a:srgbClr val="D52B1E"/>
                </a:solidFill>
                <a:latin typeface="方正姚体" panose="02010601030101010101" charset="-122"/>
                <a:ea typeface="方正姚体" panose="02010601030101010101" charset="-122"/>
              </a:rPr>
              <a:t>文案</a:t>
            </a:r>
            <a:endParaRPr lang="zh-CN" altLang="en-US" sz="4800">
              <a:solidFill>
                <a:srgbClr val="D52B1E"/>
              </a:solidFill>
              <a:latin typeface="方正姚体" panose="02010601030101010101" charset="-122"/>
              <a:ea typeface="方正姚体" panose="02010601030101010101" charset="-122"/>
            </a:endParaRPr>
          </a:p>
          <a:p>
            <a:r>
              <a:rPr lang="en-US" altLang="zh-CN" sz="4800">
                <a:solidFill>
                  <a:srgbClr val="D52B1E"/>
                </a:solidFill>
                <a:latin typeface="方正姚体" panose="02010601030101010101" charset="-122"/>
                <a:ea typeface="方正姚体" panose="02010601030101010101" charset="-122"/>
              </a:rPr>
              <a:t>     </a:t>
            </a:r>
            <a:r>
              <a:rPr lang="zh-CN" altLang="en-US" sz="4800">
                <a:solidFill>
                  <a:srgbClr val="D52B1E"/>
                </a:solidFill>
                <a:latin typeface="方正姚体" panose="02010601030101010101" charset="-122"/>
                <a:ea typeface="方正姚体" panose="02010601030101010101" charset="-122"/>
              </a:rPr>
              <a:t>美术</a:t>
            </a:r>
            <a:endParaRPr lang="zh-CN" altLang="en-US" sz="4800">
              <a:solidFill>
                <a:srgbClr val="D52B1E"/>
              </a:solidFill>
              <a:latin typeface="方正姚体" panose="02010601030101010101" charset="-122"/>
              <a:ea typeface="方正姚体" panose="02010601030101010101" charset="-122"/>
            </a:endParaRPr>
          </a:p>
          <a:p>
            <a:r>
              <a:rPr lang="en-US" altLang="zh-CN" sz="4800">
                <a:solidFill>
                  <a:srgbClr val="D52B1E"/>
                </a:solidFill>
                <a:latin typeface="方正姚体" panose="02010601030101010101" charset="-122"/>
                <a:ea typeface="方正姚体" panose="02010601030101010101" charset="-122"/>
              </a:rPr>
              <a:t>    </a:t>
            </a:r>
            <a:r>
              <a:rPr lang="zh-CN" altLang="en-US" sz="4800">
                <a:solidFill>
                  <a:srgbClr val="D52B1E"/>
                </a:solidFill>
                <a:latin typeface="方正姚体" panose="02010601030101010101" charset="-122"/>
                <a:ea typeface="方正姚体" panose="02010601030101010101" charset="-122"/>
              </a:rPr>
              <a:t>开发</a:t>
            </a:r>
            <a:endParaRPr lang="zh-CN" altLang="en-US" sz="4800">
              <a:solidFill>
                <a:srgbClr val="D52B1E"/>
              </a:solidFill>
              <a:latin typeface="方正姚体" panose="02010601030101010101" charset="-122"/>
              <a:ea typeface="方正姚体" panose="02010601030101010101" charset="-122"/>
            </a:endParaRPr>
          </a:p>
          <a:p>
            <a:r>
              <a:rPr lang="en-US" altLang="zh-CN" sz="4800">
                <a:solidFill>
                  <a:srgbClr val="D52B1E"/>
                </a:solidFill>
                <a:latin typeface="方正姚体" panose="02010601030101010101" charset="-122"/>
                <a:ea typeface="方正姚体" panose="02010601030101010101" charset="-122"/>
              </a:rPr>
              <a:t>    </a:t>
            </a:r>
            <a:r>
              <a:rPr lang="zh-CN" altLang="en-US" sz="4800">
                <a:solidFill>
                  <a:srgbClr val="D52B1E"/>
                </a:solidFill>
                <a:latin typeface="方正姚体" panose="02010601030101010101" charset="-122"/>
                <a:ea typeface="方正姚体" panose="02010601030101010101" charset="-122"/>
              </a:rPr>
              <a:t>智能体</a:t>
            </a:r>
            <a:endParaRPr lang="zh-CN" altLang="en-US" sz="4800">
              <a:solidFill>
                <a:srgbClr val="D52B1E"/>
              </a:solidFill>
              <a:latin typeface="方正姚体" panose="02010601030101010101" charset="-122"/>
              <a:ea typeface="方正姚体" panose="02010601030101010101" charset="-122"/>
            </a:endParaRPr>
          </a:p>
          <a:p>
            <a:r>
              <a:rPr lang="zh-CN" altLang="en-US" sz="4800">
                <a:solidFill>
                  <a:srgbClr val="D52B1E"/>
                </a:solidFill>
                <a:latin typeface="方正姚体" panose="02010601030101010101" charset="-122"/>
                <a:ea typeface="方正姚体" panose="02010601030101010101" charset="-122"/>
              </a:rPr>
              <a:t>信息安全</a:t>
            </a:r>
            <a:endParaRPr lang="zh-CN" altLang="en-US" sz="4800">
              <a:solidFill>
                <a:srgbClr val="D52B1E"/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3602355" y="-45720"/>
            <a:ext cx="3255010" cy="538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>
                <a:solidFill>
                  <a:srgbClr val="D52B1E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济南大学</a:t>
            </a:r>
            <a:r>
              <a:rPr lang="en-US" altLang="zh-CN" sz="2800">
                <a:solidFill>
                  <a:srgbClr val="D52B1E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|</a:t>
            </a:r>
            <a:r>
              <a:rPr lang="zh-CN" altLang="en-US" sz="2800">
                <a:solidFill>
                  <a:srgbClr val="D52B1E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计科</a:t>
            </a:r>
            <a:r>
              <a:rPr lang="en-US" altLang="zh-CN" sz="2800">
                <a:solidFill>
                  <a:srgbClr val="D52B1E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|</a:t>
            </a:r>
            <a:r>
              <a:rPr lang="zh-CN" altLang="en-US" sz="2800">
                <a:solidFill>
                  <a:srgbClr val="D52B1E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硕士</a:t>
            </a:r>
            <a:endParaRPr lang="zh-CN" altLang="en-US" sz="2800">
              <a:solidFill>
                <a:srgbClr val="D52B1E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38" grpId="1" animBg="1"/>
    </p:bldLst>
  </p:timing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</Words>
  <Application>WPS 演示</Application>
  <PresentationFormat>宽屏</PresentationFormat>
  <Paragraphs>33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方正姚体</vt:lpstr>
      <vt:lpstr>Calibri</vt:lpstr>
      <vt:lpstr>微软雅黑</vt:lpstr>
      <vt:lpstr>Arial Unicode MS</vt:lpstr>
      <vt:lpstr>Berlin Sans FB</vt:lpstr>
      <vt:lpstr>Baskerville Old Face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赵汉卿</dc:creator>
  <cp:lastModifiedBy>赵汉卿</cp:lastModifiedBy>
  <cp:revision>6</cp:revision>
  <dcterms:created xsi:type="dcterms:W3CDTF">2023-08-09T12:44:00Z</dcterms:created>
  <dcterms:modified xsi:type="dcterms:W3CDTF">2026-05-18T17:07:51Z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AF6DE658E50346CFABEEB09446A29B58_12</vt:lpwstr>
  </property>
</Properties>
</file>